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3" r:id="rId14"/>
    <p:sldId id="268" r:id="rId19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51" r:id="rId102"/>
    <p:sldId id="352" r:id="rId103"/>
    <p:sldId id="353" r:id="rId104"/>
    <p:sldId id="354" r:id="rId10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9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102" Type="http://schemas.openxmlformats.org/officeDocument/2006/relationships/slide" Target="slides/slide86.xml"/><Relationship Id="rId103" Type="http://schemas.openxmlformats.org/officeDocument/2006/relationships/slide" Target="slides/slide87.xml"/><Relationship Id="rId104" Type="http://schemas.openxmlformats.org/officeDocument/2006/relationships/slide" Target="slides/slide88.xml"/><Relationship Id="rId105" Type="http://schemas.openxmlformats.org/officeDocument/2006/relationships/slide" Target="slides/slide8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Vector clarity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1×</c:v>
                </c:pt>
                <c:pt idx="1">
                  <c:v>4×</c:v>
                </c:pt>
                <c:pt idx="2">
                  <c:v>8×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Raster clarity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1×</c:v>
                </c:pt>
                <c:pt idx="1">
                  <c:v>4×</c:v>
                </c:pt>
                <c:pt idx="2">
                  <c:v>8×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40</c:v>
                </c:pt>
                <c:pt idx="2">
                  <c:v>18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Editability score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Expanded paths</c:v>
                </c:pt>
                <c:pt idx="1">
                  <c:v>Compound shape</c:v>
                </c:pt>
                <c:pt idx="2">
                  <c:v>Live effect</c:v>
                </c:pt>
                <c:pt idx="3">
                  <c:v>Appearance stack</c:v>
                </c:pt>
                <c:pt idx="4">
                  <c:v>Symbol system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Hierarchy</c:v>
                </c:pt>
                <c:pt idx="1">
                  <c:v>Geometry</c:v>
                </c:pt>
                <c:pt idx="2">
                  <c:v>Consistency</c:v>
                </c:pt>
                <c:pt idx="3">
                  <c:v>Output</c:v>
                </c:pt>
                <c:pt idx="4">
                  <c:v>Rights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Editability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AI</c:v>
                </c:pt>
                <c:pt idx="1">
                  <c:v>PDF</c:v>
                </c:pt>
                <c:pt idx="2">
                  <c:v>SVG</c:v>
                </c:pt>
                <c:pt idx="3">
                  <c:v>PNG</c:v>
                </c:pt>
                <c:pt idx="4">
                  <c:v>JPEG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55</c:v>
                </c:pt>
                <c:pt idx="2">
                  <c:v>75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Scalability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AI</c:v>
                </c:pt>
                <c:pt idx="1">
                  <c:v>PDF</c:v>
                </c:pt>
                <c:pt idx="2">
                  <c:v>SVG</c:v>
                </c:pt>
                <c:pt idx="3">
                  <c:v>PNG</c:v>
                </c:pt>
                <c:pt idx="4">
                  <c:v>JPEG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95</c:v>
                </c:pt>
                <c:pt idx="2">
                  <c:v>100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Transparency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AI</c:v>
                </c:pt>
                <c:pt idx="1">
                  <c:v>PDF</c:v>
                </c:pt>
                <c:pt idx="2">
                  <c:v>SVG</c:v>
                </c:pt>
                <c:pt idx="3">
                  <c:v>PNG</c:v>
                </c:pt>
                <c:pt idx="4">
                  <c:v>JPEG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100</c:v>
                </c:pt>
                <c:pt idx="3">
                  <c:v>100</c:v>
                </c:pt>
                <c:pt idx="4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llustrator-cover-hero-v11.png"/>
          <p:cNvPicPr>
            <a:picLocks noChangeAspect="1"/>
          </p:cNvPicPr>
          <p:nvPr/>
        </p:nvPicPr>
        <p:blipFill>
          <a:blip r:embed="rId2"/>
          <a:srcRect l="20434" r="20434"/>
          <a:stretch>
            <a:fillRect/>
          </a:stretch>
        </p:blipFill>
        <p:spPr>
          <a:xfrm>
            <a:off x="4983480" y="0"/>
            <a:ext cx="720547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63440" y="0"/>
            <a:ext cx="10972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02920"/>
            <a:ext cx="777240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508760"/>
            <a:ext cx="420624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65960"/>
            <a:ext cx="4434840" cy="21031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61920"/>
                </a:solidFill>
                <a:latin typeface="Arial"/>
              </a:rPr>
              <a:t>Adobe Illustrator Fundamentals for Beginners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87952"/>
            <a:ext cx="1234440" cy="73152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507992"/>
            <a:ext cx="43434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Course code  C037</a:t>
            </a:r>
          </a:p>
          <a:p>
            <a:r>
              <a:rPr sz="1250" b="1">
                <a:latin typeface="Arial"/>
              </a:rPr>
              <a:t>Duration  1 day · 7.5 instructional hours</a:t>
            </a:r>
          </a:p>
          <a:p>
            <a:r>
              <a:rPr sz="1250" b="1">
                <a:latin typeface="Arial"/>
              </a:rPr>
              <a:t>Provider  Tertiary Infotech Academy Pte Ltd · UEN: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144768"/>
            <a:ext cx="42976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11D74"/>
                </a:solidFill>
                <a:latin typeface="Arial"/>
              </a:rPr>
              <a:t>Version v1 · 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GENERAL 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Trainer Profile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Trainer: ______________________________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Industry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Relevant vector-graphics, design-production or creative-technology experience.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Adult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Approved adult-training credentials for this delivery context.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Facilitation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Concept explanation, demonstration, coached practice and evidence review.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Quality 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Editable artwork, visible rationale, verified output and responsible asset use.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Contact 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provider-approved learner support channel.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NAMED 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Principal Trainer · Tertiary Infotech Academy Pte Ltd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Expertise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Digital transformation, creative technology, courseware development and adult learning.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Facilitation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Concept-first explanation followed by coached practice and evidence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Source alignment, reproducible workflows and clear acceptance criteria.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Learning culture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Ask early and explain the reason behind each design choice.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enquiry@tertiaryinfotech.com · +65 6100 0613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OPENING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Your Vector-Graphics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graphics do you create or manage?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Screen, social, presentation, packaging or print?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Friction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Illustrator task currently costs the most time?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defect is most visible in current output?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vector tool family is already familiar?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finished artifact will prove improvement?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GROUND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Working Agreements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Participate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Try the tools and explain choices.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Respect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Critique the work, not the person.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Protect assets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permitted sources and retain rights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Save 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Preserve originals and name layers, artboards and files.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Share safely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Protect learner work and course materials.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Reopen exports before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LMS-TMS VISUAL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Download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Open LMS-TMS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Select this course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Open Courseware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Download package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Check 10 labs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Portal: https://lms-tms.tertiaryinfotech.com/ · Confirm the deck, Learner Guide, Lesson Plan and ten Illustrator/vector lab folders before starting.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COURSE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One-Day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Foundations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Construction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Experimentation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Evaluation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Demonstration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The morning builds core vector control; the afternoon improves, evaluates and delivers a coherent multi-output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THREE CONNECTED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4443984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Topic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Basic Digital Graphics Design with Illustrator
Vector foundations · workspace · selection · shapes · colour · strokes · layers · transforms
LO1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4443984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Topic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Improve Digital Graphics Design with Illustrator
Construction · guides · pen control · gradients · patterns · symbols · appearance · type
LO2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4443984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Topic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Evaluate Graphics Design with Illustrator
Placed imagery · Image Trace · artboards · evaluation · export · package · IP · peer review
LO3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TOOLS AND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Tools, Materials and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Laptop, suitable display, mouse or tablet and reliable storage.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current supported Adobe Illustrator desktop release.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Properties, Layers, Artboards, Appearance and relevant task panels.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Rights-cleared AI, SVG, PDF and raster reference assets.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Output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Dimensions, colour mode, transparency, bleed and format.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Versioned masters, editable construction and verified exports.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TOOL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Illustrator Scope and Disclaimer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Industry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Vector marks, icons, diagrams, packaging, type and multi-artboard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Not Adobe certification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course does not certify an Adobe credential.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Interface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Labels may move between releases; vector principles remain stable.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Decision over clicks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by geometry, editability, scale and output.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Responsible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generated content and retain provenance where relevant.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Trademark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Adobe and Illustrator are Adobe trademarks; the provider is not affiliated with Adobe.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Basic Digital Graphics Design with Illustrator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Vector foundations · workspace · selection · shapes · colour · strokes · layers · transforms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B8D9"/>
                </a:solidFill>
                <a:latin typeface="Arial"/>
              </a:rPr>
              <a:t>LO1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EDITABLE CONCEPT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Scale Robustness: Vector vs Raster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Conceptual comparison · not measured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B8D9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index: vector geometry is recalculated at output size, while a fixed raster source reveals pixels as enlargement increases.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01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Vector, Raster and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shapes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635286"/>
            <a:ext cx="4535424" cy="26847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Vector paths are mathematically described; raster images are pixel grids whose detail depends on dimensions.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Logos, icons, diagrams and artwork that must scale cleanly.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The vector artwork remains crisp at multiple sizes and placed raster assets meet output resolution.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1920"/>
                </a:solidFill>
                <a:latin typeface="Arial"/>
              </a:rPr>
              <a:t>Vector, Raster and Resolution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Anchor geometry; stroke; fill; raster dimensions; linked or embedded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Assuming every placed image becomes resolution-independent.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vector artwork remains crisp at multiple sizes and placed raster assets meet output resolution.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02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Illustrator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648059"/>
            <a:ext cx="4535424" cy="26591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Panels expose context-sensitive controls while workspaces save a task-oriented arrangement.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Reducing search time and keeping object, colour, layer and artboard decisions visible.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A reviewer can identify the active object, layer, artboard and relevant controls.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Illustrator Workspace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Toolbar; Properties; Control; Layers; Artboards; panel docking; workspace reset.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Editing the wrong object because selection, layer or isolation state is unclear.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reviewer can identify the active object, layer, artboard and relevant controls.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03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Artboards as Deliverable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artbo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672" y="1901952"/>
            <a:ext cx="3042288" cy="415137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Multiple artboards organise related outputs in one document without changing the artwork itself.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Brand systems, social sizes, icon families, print variants and review boards.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Each artboard has a meaningful name, correct dimensions and verified export.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1920"/>
                </a:solidFill>
                <a:latin typeface="Arial"/>
              </a:rPr>
              <a:t>Artboards as Deliverable Frames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Size; orientation; name; order; reference point; Move/Copy Artwork with Artboard.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Unclear names, accidental overlaps and exporting the wrong range.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Each artboard has a meaningful name, correct dimensions and verified export.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04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Selection and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701242"/>
            <a:ext cx="4535424" cy="255279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Selection targets whole objects or groups; Direct Selection targets anchors and segments; Isolation limits editing scope.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Editing complex grouped artwork without disturbing unrelated objects.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Only the intended object or anchors change and the hierarchy remains intact.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Selection and Isolation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Selection; Direct Selection; Group Selection; Lasso; Magic Wand; isolation breadcrumb.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Moving a group when only an anchor should change, or editing a hidden/locked item.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Only the intended object or anchors change and the hierarchy remains intact.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05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Anchors, Paths and Live Shapes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Pen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901952"/>
            <a:ext cx="4151376" cy="415137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Straight and curved segments connect anchor points; live shapes retain editable geometric properties.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Accurate icons, diagrams, badges and repeatable geometric construction.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The path uses the fewest practical anchors and remains easy to revise.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1920"/>
                </a:solidFill>
                <a:latin typeface="Arial"/>
              </a:rPr>
              <a:t>Anchors, Paths and Live Shapes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Corner/smooth point; handles; segment; radius; sides; transform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Too many anchors, uneven curves and expanding live shapes too 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path uses the fewest practical anchors and remains easy to revise.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06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Colour Models and Swatches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923633"/>
            <a:ext cx="4535424" cy="210801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RGB describes additive light, CMYK describes subtractive process inks and HSB describes perceptual colour attributes.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Screen, print and controlled brand-colour workflows.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The document mode and swatches match the delivery brief and repeated colours update consistently.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Colour Models and Swatches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Document colour mode; fill/stroke; Swatches; global/spot colour; tint; Color Guide.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Converting late, confusing screen colour with print output or using unnamed ad-hoc colours.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document mode and swatches match the delivery brief and repeated colours update consistently.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07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Stroke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stro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656885"/>
            <a:ext cx="4535424" cy="264151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A stroke follows a path and can vary in weight, alignment, cap, join, dash, profile and width.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Icons, line illustrations, technical diagrams and expressive outlines.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Stroke choices remain consistent at the intended display and export sizes.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Stroke Anatomy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Weight; cap; join; miter; dash/gap; profile; Width tool; Align Stroke.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Inconsistent endpoints, sharp miter spikes and scale-dependent stroke surprises.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Stroke choices remain consistent at the intended display and export sizes.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08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Layers, Groups and Stacking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644816"/>
            <a:ext cx="4535424" cy="266564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Layers and groups define ownership and navigation; stacking order controls which artwork appears in front.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Complex documents that another designer must understand or continue.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The Layers panel explains the document and supports quick variant creation.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Layers, Groups and Stacking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Names; groups; sublayers; visibility; lock; target; order; alignment/distribution.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Generic names, hidden duplicates and effects applied at the wrong hierarchy level.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Layers panel explains the document and supports quick variant creation.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01 · Workspace, Artboards and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32061"/>
            <a:ext cx="3474719" cy="2037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Prepare a starter document for a small icon team so another designer can navigate it confidently.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Set up a reliable vector workspace and distinguish object, group and anchor-level selection.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Construct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Lab01-Workspace-Selection.ai plus an exported evidence board and short comparison of the three selection scopes.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02 · Shapes, Lines and Transform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-trans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72807"/>
            <a:ext cx="3474720" cy="19557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Create three related wayfinding icons that must remain consistent across print and screen sizes.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Construct a precise icon set from live shapes and numeric transforms.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Construct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Editable AI master, three icon variants, SVG exports and a one-page PDF comparison.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03 · Colour Systems, Swatches and Strokes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43187"/>
            <a:ext cx="3474720" cy="16150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Adapt one campaign mark for RGB social delivery and a CMYK print proof without losing consistency.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screen and print colour variants with a controlled stroke language.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Construct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Two colour-mode proofs, editable AI files and a decision note covering swatches and stroke behaviour.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04 · Layers, Groups and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29577"/>
            <a:ext cx="3474720" cy="20422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Prepare an inherited artwork file for team handoff and rapid variant production.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Reorganise a complex document so stacking, grouping and alignment are clear and auditable.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Construct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Structured AI master, two variants and a brief peer-navigation record.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EXPLAIN THE DESIGN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1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audience notice or understand?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Why does this vector method fit the brief?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setting most changes the result?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defect would make it unacceptable?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panel, view and export demonstrate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controlled variation would improve it?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Improve Digital Graphics Design with Illustrator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Construction · guides · pen control · gradients · patterns · symbols · appearance ·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B8D9"/>
                </a:solidFill>
                <a:latin typeface="Arial"/>
              </a:rPr>
              <a:t>LO2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EDITABLE DECISION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Editability by Construction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Instructional decision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Scale: 1 = low, 5 = high. Preserve the most editable structure that still meets delivery and compatibility requirements.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09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Compound Shapes and Pathfinder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comp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560320"/>
            <a:ext cx="4535424" cy="28346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Boolean operations combine, subtract, intersect or divide overlapping geometry.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Constructing precise marks and reusable forms from simple shapes.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The chosen operation produces clean geometry with intentional overlaps and no stray paths.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1920"/>
                </a:solidFill>
                <a:latin typeface="Arial"/>
              </a:rPr>
              <a:t>Compound Shapes and Pathfinder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Unite; Minus Front; Intersect; Exclude; Divide; Trim; Merge; Expand.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Losing editability by expanding before the design is agreed.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chosen operation produces clean geometry with intentional overlaps and no stray paths.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10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Shape Builder and Live Paint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shape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662850"/>
            <a:ext cx="4535424" cy="26295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Shape Builder merges or removes perceived regions; Live Paint treats intersecting paths as paintable faces and edges.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Fast exploration from overlapping sketches and line networks.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All intended faces are controlled and the result contains no accidental fragments.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Shape Builder and Live Paint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Selected region; merge/delete gesture; gap options; Live Paint group; face/edge selection.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Unintended regions caused by open gaps or incomplete selection.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All intended faces are controlled and the result contains no accidental fragments.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11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Clipping and Opacity Masks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cli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512259"/>
            <a:ext cx="4535424" cy="29307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A clipping path defines visible geometry; an opacity mask uses grayscale to control degrees of visibility.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Image-in-shape treatments, reveals and soft transparency transitions.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Source content remains editable and the edge or transparency transition is clean.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Clipping and Opacity Masks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Topmost clipping path; clipping group; mask thumbnail; invert; clip; grayscale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Confusing a clipping mask with a destructive crop or losing track of mask/content focus.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Source content remains editable and the edge or transparency transition is clean.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12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Pen and Curvature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Pen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901952"/>
            <a:ext cx="4151376" cy="415137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Pen creates anchors and direction handles; Curvature creates and converts smooth or corner points more directly.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Logos, custom lettering, accurate silhouettes and editable illustrations.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Curves are smooth, economical and easy to reshape.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Pen and Curvature Control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Click/drag; handle direction/length; add/delete/convert anchor; close path; rubber band.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Excess anchors, kinked joins and handles that fight the intended curve.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Curves are smooth, economical and easy to reshape.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13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Pencil and Brush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Br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106778"/>
            <a:ext cx="4535424" cy="37417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Pencil creates freehand paths; brushes apply calligraphic, scatter, art, bristle or pattern behaviour to paths.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Expressive lines, illustrated borders, textures and repeated motifs.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The path and brush definition remain editable and reproduce the intended character.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Pencil and Brush Systems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Fidelity; smoothness; keep selected; brush scale; colourisation; direction; corners.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Noisy paths, unintended brush scaling and expanded artwork that is hard to revise.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path and brush definition remain editable and reproduce the intended character.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14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Guides, Grids and Smart Guides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Reference systems reveal alignment, spacing and transform relationships without becoming output artwork.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Grids, icon systems, packaging layouts and consistent spacing.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Key edges, centres and gaps follow a documented spacing system.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1920"/>
                </a:solidFill>
                <a:latin typeface="Arial"/>
              </a:rPr>
              <a:t>Guides, Grids and Smart Guides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Ruler units; guide lock; grid interval/subdivision; snap; Smart Guide categories.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Over-snapping, inconsistent units and aligning to an unintended reference.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Key edges, centres and gaps follow a documented spacing system.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15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Theoretical Contexts: Constructivist and Swiss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Constructivist work often uses geometric tension, diagonals, bold contrast and integrated type; Swiss style emphasises grids, asymmetric order, clarity and disciplined typography.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Giving a visual system a defensible historical or theoretical rationale rather than decorating by habit.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design rationale identifies the chosen context and points to visible decisions that support it.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1920"/>
                </a:solidFill>
                <a:latin typeface="Arial"/>
              </a:rPr>
              <a:t>Theoretical Contexts: Constructivist and Swiss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Grid; axis; geometry; scale contrast; limited palette; sans-serif hierarchy; negative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Copying a surface look without connecting it to purpose, audience or communication logic.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design rationale identifies the chosen context and points to visible decisions that support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16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Gradients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grad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701242"/>
            <a:ext cx="4535424" cy="255279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Linear, radial and freeform gradients interpolate colour and opacity between defined stops or 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Depth, light, atmospheric colour and controlled transitions.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The gradient supports hierarchy and form at delivery size without visible banding.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Gradients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Type; angle; aspect; stop location; midpoint; opacity; spread; freeform points/lines.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Banding, muddy colour, too many stops and decorative light inconsistent with form.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gradient supports hierarchy and form at delivery size without visible banding.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17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Patterns and Symbols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701242"/>
            <a:ext cx="4535424" cy="255279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Patterns tile reusable artwork; symbols create linked instances that support coordinated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Brand textures, packaging surfaces, maps, icons and repeated components.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The repeat is seamless and all instances remain consistent with intentional variations.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Patterns and Symbols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Tile type; overlap; spacing; transform pattern; symbol instance; dynamic override.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Visible seams, accidental object transforms and breaking instance relationships too 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repeat is seamless and all instances remain consistent with intentional variations.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18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Appearance, Transparency and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graphic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723057"/>
            <a:ext cx="4535424" cy="250916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Appearance attributes stack fills, strokes, opacity and live effects without changing the underlying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Editable badges, outlined text, reusable graphic styles and layered visual treatments.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The base path remains editable and the Appearance panel fully explains the treatment.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1920"/>
                </a:solidFill>
                <a:latin typeface="Arial"/>
              </a:rPr>
              <a:t>Appearance, Transparency and Effects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Attribute order; target level; opacity; blend mode; effect parameters; Graphic Styles.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Applying effects at the wrong object/group/layer level or expanding too 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base path remains editable and the Appearance panel fully explains the treatment.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19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Typography and Type on a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688983"/>
            <a:ext cx="4535424" cy="257731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Point, area and path type use different containers; hierarchy comes from typeface, size, leading, tracking, alignment and spacing.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Logos, posters, labels, information graphics and brand systems.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The message reads in the intended order and the master retains live type.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1920"/>
                </a:solidFill>
                <a:latin typeface="Arial"/>
              </a:rPr>
              <a:t>Typography and Type on a Path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Point/area/path type; baseline; leading; tracking; paragraph alignment; overset; outlines copy.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Poor readability, missing fonts, accidental overset and outlining the only editable copy.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message reads in the intended order and the master retains live type.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05 · Pathfinder, Shape Builder and Masks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-pathfin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64842"/>
            <a:ext cx="3474720" cy="2171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Develop a product badge that combines overlapping geometry, a clipped image treatment and a soft transparency option.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Compare construction methods and select the most editable result for a badge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Construct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Editable comparison layers, final badge, clipping and opacity-mask variations and method rationale.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06 · Pen, Curvature, Pencil and Brushes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-Br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84" y="1901952"/>
            <a:ext cx="3269672" cy="2697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Produce a mascot mark with a precise silhouette and an expressive supporting stroke.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controlled and expressive paths while keeping anchor economy and brush behaviour visible.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Construct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AI master with Pen, Curvature and Pencil alternatives plus exported selected mark.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07 · Gradients, Patterns and Symbols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-grad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72807"/>
            <a:ext cx="3474720" cy="19557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Create a packaging surface system with a gradient backdrop, seamless motif and reusable icons.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Build reusable colour and repetition systems, then improve one option through controlled experimentation.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Construct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Editable AI master, gradient tests, seamless pattern proof, symbol instances and final packaging panel.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08 · Appearance, Graphic Styles and Typography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-graphic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9519"/>
            <a:ext cx="3474719" cy="19223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Develop two headline treatments for stakeholder review and recommend the one that best fits a professional event campaign.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Design a typographic poster with live type and reusable appearance treatments.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Construct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Live-type AI master, two treatment proofs, feedback note and revised final poster.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EXPLAIN THE DESIGN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2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audience notice or understand?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Why does this vector method fit the brief?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setting most changes the result?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defect would make it unacceptable?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panel, view and export demonstrate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controlled variation would improve it?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Evaluate Graphics Design with Illustrator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Placed imagery · Image Trace · artboards · evaluation · export · package · IP · peer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B8D9"/>
                </a:solidFill>
                <a:latin typeface="Arial"/>
              </a:rPr>
              <a:t>LO3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EDITABLE QUALITY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Professional Evaluation Weighting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 THE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Attractiveness alone is insufficient. A professional vector asset must communicate clearly, remain technically sound and carry usable rights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EDITABLE OUTPUT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Format Capability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Illustrative capability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relative capability index. Choose the derivative by channel; retain AI as the editable master where appropriate.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20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Linked and Embedded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ad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654268"/>
            <a:ext cx="4535424" cy="264674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Placed artwork can remain linked to an external source or be embedded into the Illustrator document.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Hybrid layouts that combine vector systems with photographs or external assets.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Links are current or intentionally embedded and all sources are documented.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Linked and Embedded Images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Links panel; status; relink; update; embed; unembed; effective ppi.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Broken links, outdated sources, oversized embedded files and insufficient effective resolution.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Links are current or intentionally embedded and all sources are documented.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21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Image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85" y="1901952"/>
            <a:ext cx="3602662" cy="41513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Image Trace samples raster pixels into vector regions according to preset and advanced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Converting simple logos, sketches or high-contrast artwork into editable vector paths.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The result balances fidelity, path economy and editability after expansion and cleanup.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Image Trace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Preset; mode; palette; threshold/colours; paths; corners; noise; ignore colour; expand.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Tracing photographs into excessive paths or mistaking a trace for a faithful original vector.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result balances fidelity, path economy and editability after expansion and cleanup.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22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Design Principles in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Visual hierarchy and relationships determine what is noticed, understood and remembered.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Structured critique of logos, posters, icons, packaging and information graphics.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Comments connect a visible feature to purpose, audience and acceptance criteria.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1920"/>
                </a:solidFill>
                <a:latin typeface="Arial"/>
              </a:rPr>
              <a:t>Design Principles in Evaluation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Balance; contrast; hierarchy; alignment; proximity; repetition; scale; negative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Personal preference presented as evidence and evaluation without a defined audience or channel.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Comments connect a visible feature to purpose, audience and acceptance criteria.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23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Export Formats and Asset Export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artbo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672" y="1901952"/>
            <a:ext cx="3042288" cy="415137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Export creates channel-specific derivatives while the AI file remains the editable master.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Screen SVG/PNG/JPEG, print PDF and multi-size asset delivery.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Every derivative reopens correctly and matches the named size, colour and transparency requirement.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1920"/>
                </a:solidFill>
                <a:latin typeface="Arial"/>
              </a:rPr>
              <a:t>Export Formats and Asset Export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Artboard range; SVG styling; raster resolution; transparency; colour space; anti-aliasing; suffix/scale.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Exporting the wrong artboard, losing transparency or handing over only a flattened 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Every derivative reopens correctly and matches the named size, colour and transparency requirement.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24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Package, Preflight and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pac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654268"/>
            <a:ext cx="4535424" cy="264674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Packaging collects the Illustrator document, linked graphics and permitted fonts with a report.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Transfer to another designer, printer or archive where dependencies must remain available.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The recipient can open the package without missing links and understands usage constraints.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1920"/>
                </a:solidFill>
                <a:latin typeface="Arial"/>
              </a:rPr>
              <a:t>Package, Preflight and Handoff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Links status; fonts; colour mode; bleed; overprint; package report; version and naming.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Assuming packaging grants font/image rights or failing to verify the collected copy.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recipient can open the package without missing links and understands usage constraints.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25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Copyright, Licensing and Attribution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IPOS Copyright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Copyright protects original expression; reuse depends on ownership, permission, licence terms or a valid exception.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Any project using third-party artwork, typefaces, photographs, icons or generated material.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rights register links every non-original asset to usable evidence.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1920"/>
                </a:solidFill>
                <a:latin typeface="Arial"/>
              </a:rPr>
              <a:t>Copyright, Licensing and Attribution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IPOS Copyright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Creator/owner; source; licence; consent; modification; commercial use; redistribution; attribution.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Treating online availability or attribution alone as permission.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rights register links every non-original asset to usable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26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Peer Review and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eview-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805" y="1901952"/>
            <a:ext cx="3602662" cy="41513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Structured review compares the work against agreed criteria and records what changed after feedback.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Structured evaluation, peer discussion and professional sign-off before delivery.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The final version includes one recorded review decision and a verified improvement.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Peer Review and Adaptation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Illustrator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Purpose; audience; alternatives; zoom/view; rubric; comments; decision; revision log.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Defensive discussion, vague praise or changing many factors without traceability.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final version includes one recorded review decision and a verified improvement.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09 · Image Trace, Artboards and Export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-artbo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911" y="1901952"/>
            <a:ext cx="1976817" cy="2697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Prepare a small icon or logo asset family for web, presentation and print 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Convert suitable raster artwork, clean the vector result and deliver a verified multi-artboard asset 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Construct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Clean AI master, named artboards, SVG, PNG and PDF derivatives and an export verification record.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1920"/>
                </a:solidFill>
                <a:latin typeface="Arial"/>
              </a:rPr>
              <a:t>Lab 10 · Brand System Capstone, Handoff and Peer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-pac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36818"/>
            <a:ext cx="3474720" cy="20277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Create a launch kit containing a mark, icon family, social tile and packaging panel for a fictional sustainable retail brand.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Integrate the course workflow into a coherent vector brand kit, evaluate it and prepare a rights-aware handoff.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Construct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Final AI master, packaged handoff where permitted, multi-format exports, evaluation matrix, peer-review note, revision log and rights register.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10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EXPLAIN THE DESIGN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3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audience notice or understand?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Why does this vector method fit the brief?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setting most changes the result?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defect would make it unacceptable?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panel, view and export demonstrate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controlled variation would improve it?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COURSE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Professional Vector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Clarify purpose, audience, channel and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suitable, rights-cleared assets.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Construct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economical paths and visible structure.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Experiment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Vary one factor against a baseline.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Inspect visual, technical and rights criteria.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Deliver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Export, reopen and retain the editable master.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SINGAPORE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Copyright and Asset Permission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IPOS Copyright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Identify the creator or owner.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Permission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Public visibility does not grant reuse.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Check modification, commercial and redistribution rights.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People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Confirm consent and privacy context.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Attribution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Credit as the licence requires.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Retain source, licence, consent, date and use.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DISCUSS 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Peer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Describe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State purpose and key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Reveal layers, appearance and alternatives.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explicit evaluation criteria.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Capture what the reviewer noticed.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Accept, adapt or reject with a reason.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Revise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Make one traceable improvement.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HELP IMPROVE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course feedback form shared by your trainer.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 specific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Name the explanation or resource that helped or blocked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Rate fairly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Separate content, facilitation, venue and administration.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Suggest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Describe one practical improvement.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Post-course subject consultation is available.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enquiry@tertiaryinfotech.com · +65 6100 0613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CONTINUE THE CREATIVE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Photoshop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Edit and composite raster imagery.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InDesign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Build print and digital publications.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After Effects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Animate graphic systems.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Premiere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Edit campaign video.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UI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Apply hierarchy to digital interfaces.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Document process and verified outputs.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AFTER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Telephone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Do not share learner work publicly without consent.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1005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418320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0B8D9"/>
                </a:solidFill>
                <a:latin typeface="Arial"/>
              </a:rPr>
              <a:t>Construct precisely · experiment visibly · deliver responsibly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800600"/>
            <a:ext cx="7498079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8CFDA"/>
                </a:solidFill>
                <a:latin typeface="Arial"/>
              </a:rPr>
              <a:t>C037 · Adobe Illustrator Fundamentals for Beginners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Adobe Illustrator Fundamentals for Beginners  ·  C037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Adobe Illustrator Fundamentals for Beginners</dc:title>
  <dc:subject>C037</dc:subject>
  <dc:creator/>
  <cp:keywords>Adobe Illustrator; C037</cp:keywords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